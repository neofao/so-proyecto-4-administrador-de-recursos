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56CA11-5612-4AA3-9F18-63F9FF74FD33}" type="datetimeFigureOut">
              <a:t>17/07/2026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99E3C7-5EE0-4603-8A1F-9205E1240F2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249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 con cierre de Unidad I: ya sabemos como esta organizado el kernel; ahora vemos que gestiona dentro de el: los procesos.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unidad cierra con la entrega del Proyecto 1 en Semana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en vivo la salida de ps aux y vincular cada columna con un campo conceptual del PCB.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a los estudiantes dibujar este diagrama de memoria antes de mostrarlo, como activacion.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Threads vs procesos: usar analogia de oficina (proceso=oficina con sus propios recursos, threads=empleados que comparten la oficina).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Ejercicio numerico en vivo con 3 procesos, calculando tiempo de espera bajo ambos algoritmos.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Proyecto 1 exige probar minimo 2 quantum distintos (q=2 y q=4) - anticipar esta comparacion aqui.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con Caso Empresarial 1 (sistema de facturacion) del Banco de Casos Empresariales.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guia clave: ¿xv6 implementa Round Robin? ¿Como lo confirmamos leyendo scheduler()?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 Guia de Laboratorio 2 completa. Registrar 5 procesos observados con PID, estado, %CPU y prioridad.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Recordar checklist de entrega completo (codigo, datos, resultados, documento IEEE) antes de cerrar la sesion.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297680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4206240"/>
            <a:ext cx="3840480" cy="3840480"/>
          </a:xfrm>
          <a:prstGeom prst="ellipse">
            <a:avLst/>
          </a:prstGeom>
          <a:solidFill>
            <a:srgbClr val="1C7293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052560" y="914400"/>
            <a:ext cx="1371600" cy="13716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9176" y="1271016"/>
            <a:ext cx="658368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3716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TIIT2007 · SISTEMAS OPERATIVOS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82880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Unidad II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40080" y="265176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Procesos y Scheduling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40080" y="36576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 →  xv6  →  Linux/Windows  →  Modelado en C++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6126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Invenio · Licenciatura en TICE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 la Unidad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1581912"/>
            <a:ext cx="219456" cy="219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426464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Proceso, PCB y estados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371600" y="17830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 de un proceso en ejecución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23774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496312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340864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Context switching, threads e IPC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371600" y="26974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el SO alterna entre procesos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0080" y="32918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410712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3255264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Algoritmos de planificacion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371600" y="36118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FCFS, SJF, Round Robin y prioridades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40080" y="42062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325112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71600" y="4169664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xv6: proc.c y scheduler()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1371600" y="4526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Observacion de la planificacion real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640080" y="51206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5239512"/>
            <a:ext cx="219456" cy="2194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71600" y="5084064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Laboratorio y cierre de Proyecto 1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1371600" y="5440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ps/top vs. Get-Process; Simulador de Scheduling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Proceso y PCB (Process Control Block)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programa es codigo inerte; un proceso es ese codigo en ejecucion.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120640" cy="4114800"/>
          </a:xfrm>
          <a:prstGeom prst="roundRect">
            <a:avLst>
              <a:gd name="adj" fmla="val 1778"/>
            </a:avLst>
          </a:prstGeom>
          <a:solidFill>
            <a:srgbClr val="21295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2880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20071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920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PCB almacena, por proceso: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246888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(identificador unico)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8680" y="292608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 del proceso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68680" y="338328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 de programa (PC)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68680" y="384048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de CPU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68680" y="429768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Informacion de memoria asignada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68680" y="475488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 de planificacion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943600" y="1554480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F4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62636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Equivalente practico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263640" y="228600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ejecutas ps aux en Linux o Get-Process en PowerShell, estas viendo una representacion parcial y simplificada del PCB que el kernel mantiene internamente para cada proceso activo.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263640" y="3749040"/>
            <a:ext cx="4572000" cy="1645920"/>
          </a:xfrm>
          <a:prstGeom prst="roundRect">
            <a:avLst>
              <a:gd name="adj" fmla="val 3333"/>
            </a:avLst>
          </a:prstGeom>
          <a:solidFill>
            <a:srgbClr val="1B2B36"/>
          </a:solidFill>
          <a:ln/>
        </p:spPr>
      </p:sp>
      <p:sp>
        <p:nvSpPr>
          <p:cNvPr id="18" name="Text 15"/>
          <p:cNvSpPr/>
          <p:nvPr/>
        </p:nvSpPr>
        <p:spPr>
          <a:xfrm>
            <a:off x="6492240" y="3931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proc { ... }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92240" y="43434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F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PCB de xv6 - ver Guia de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FF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Analisis xv6, Unidad II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Estados de un Proceso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210312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5C728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031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46120" y="210312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3246120" y="21031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0" y="210312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0" y="21031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641080" y="210312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/>
        </p:spPr>
      </p:sp>
      <p:sp>
        <p:nvSpPr>
          <p:cNvPr id="10" name="Text 8"/>
          <p:cNvSpPr/>
          <p:nvPr/>
        </p:nvSpPr>
        <p:spPr>
          <a:xfrm>
            <a:off x="8641080" y="21031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0" y="2423160"/>
            <a:ext cx="502920" cy="274320"/>
          </a:xfrm>
          <a:prstGeom prst="rightArrow">
            <a:avLst/>
          </a:prstGeom>
          <a:solidFill>
            <a:srgbClr val="B9C8D2"/>
          </a:solidFill>
          <a:ln/>
        </p:spPr>
      </p:sp>
      <p:sp>
        <p:nvSpPr>
          <p:cNvPr id="12" name="Shape 10"/>
          <p:cNvSpPr/>
          <p:nvPr/>
        </p:nvSpPr>
        <p:spPr>
          <a:xfrm>
            <a:off x="5440680" y="2423160"/>
            <a:ext cx="502920" cy="274320"/>
          </a:xfrm>
          <a:prstGeom prst="rightArrow">
            <a:avLst/>
          </a:prstGeom>
          <a:solidFill>
            <a:srgbClr val="B9C8D2"/>
          </a:solidFill>
          <a:ln/>
        </p:spPr>
      </p:sp>
      <p:sp>
        <p:nvSpPr>
          <p:cNvPr id="13" name="Shape 11"/>
          <p:cNvSpPr/>
          <p:nvPr/>
        </p:nvSpPr>
        <p:spPr>
          <a:xfrm>
            <a:off x="8138160" y="2423160"/>
            <a:ext cx="502920" cy="274320"/>
          </a:xfrm>
          <a:prstGeom prst="rightArrow">
            <a:avLst/>
          </a:prstGeom>
          <a:solidFill>
            <a:srgbClr val="B9C8D2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0" y="393192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8C5E2B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0" y="39319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0" y="3063240"/>
            <a:ext cx="274320" cy="777240"/>
          </a:xfrm>
          <a:prstGeom prst="downArrow">
            <a:avLst/>
          </a:prstGeom>
          <a:solidFill>
            <a:srgbClr val="B9C8D2"/>
          </a:solidFill>
          <a:ln/>
        </p:spPr>
      </p:sp>
      <p:sp>
        <p:nvSpPr>
          <p:cNvPr id="17" name="Text 15"/>
          <p:cNvSpPr/>
          <p:nvPr/>
        </p:nvSpPr>
        <p:spPr>
          <a:xfrm>
            <a:off x="7178040" y="3200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7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E/S solicitada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40680" y="3063240"/>
            <a:ext cx="274320" cy="777240"/>
          </a:xfrm>
          <a:prstGeom prst="upArrow">
            <a:avLst/>
          </a:prstGeom>
          <a:solidFill>
            <a:srgbClr val="B9C8D2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3200400"/>
            <a:ext cx="868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5C7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E/S</a:t>
            </a:r>
            <a:endParaRPr lang="en-US" sz="950" dirty="0"/>
          </a:p>
          <a:p>
            <a:pPr marL="0" indent="0" algn="r">
              <a:buNone/>
            </a:pPr>
            <a:r>
              <a:rPr lang="en-US" sz="950" i="1" dirty="0">
                <a:solidFill>
                  <a:srgbClr val="5C7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5212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context switch ocurre cada vez que el SO mueve un proceso de Running a Ready (o viceversa).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Switching, Threads e IPC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4F8F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7830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30" y="199705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743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Switch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324612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el estado completo de un proceso (registros, PC) y cargar el de otro. Tiene costo de rendimiento: no es gratis cambiar de proceso.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251960" y="146304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4F8FA"/>
          </a:solidFill>
          <a:ln/>
        </p:spPr>
      </p:sp>
      <p:sp>
        <p:nvSpPr>
          <p:cNvPr id="9" name="Shape 6"/>
          <p:cNvSpPr/>
          <p:nvPr/>
        </p:nvSpPr>
        <p:spPr>
          <a:xfrm>
            <a:off x="4526280" y="17830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0250" y="1997050"/>
            <a:ext cx="395021" cy="39502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26280" y="2743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526280" y="324612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de ejecucion dentro de un mismo proceso que comparten memoria. Mas livianos que crear procesos completos.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955280" y="146304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4F8FA"/>
          </a:solidFill>
          <a:ln/>
        </p:spPr>
      </p:sp>
      <p:sp>
        <p:nvSpPr>
          <p:cNvPr id="14" name="Shape 10"/>
          <p:cNvSpPr/>
          <p:nvPr/>
        </p:nvSpPr>
        <p:spPr>
          <a:xfrm>
            <a:off x="8229600" y="17830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3570" y="1997050"/>
            <a:ext cx="395021" cy="39502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9600" y="2743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229600" y="324612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Mecanismos para que procesos independientes se comuniquen: pipes, memoria compartida, paso de mensajes.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FCFS vs. SJF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21295C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69164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186994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783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737360" y="2194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Come, First Served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68680" y="274320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Atiende en orden estricto de llegada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8680" y="338328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de implementar (cola FIFO)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68680" y="402336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efecto convoy - procesos cortos esperan detras de uno largo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035040" y="137160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F4F8FA"/>
          </a:solidFill>
          <a:ln/>
        </p:spPr>
      </p:sp>
      <p:sp>
        <p:nvSpPr>
          <p:cNvPr id="12" name="Shape 9"/>
          <p:cNvSpPr/>
          <p:nvPr/>
        </p:nvSpPr>
        <p:spPr>
          <a:xfrm>
            <a:off x="6355080" y="169164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3388" y="186994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23760" y="1783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SJF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7223760" y="2194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Job First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355080" y="274320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Atiende primero la rafaga mas corta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355080" y="338328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 el tiempo de espera promedio (teoricamente optimo)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355080" y="402336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inanicion - procesos largos pueden esperar indefinidamente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Robin y el Quantum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proceso recibe una porcion fija de tiempo (quantum) antes de ceder la CPU.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92024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0" y="1828800"/>
            <a:ext cx="1920240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0" y="18288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80560" y="1828800"/>
            <a:ext cx="1920240" cy="777240"/>
          </a:xfrm>
          <a:prstGeom prst="rect">
            <a:avLst/>
          </a:prstGeom>
          <a:solidFill>
            <a:srgbClr val="3F6B8C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18288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1828800"/>
            <a:ext cx="192024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8288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21040" y="1828800"/>
            <a:ext cx="1920240" cy="777240"/>
          </a:xfrm>
          <a:prstGeom prst="rect">
            <a:avLst/>
          </a:prstGeom>
          <a:solidFill>
            <a:srgbClr val="3F6B8C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18288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2697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7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Gantt - quantum = 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38328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F4F8FA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611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muy pequeno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397764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Demasiados context switches: el overhead domina sobre el trabajo util realizado.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943600" y="3383280"/>
            <a:ext cx="5303520" cy="2194560"/>
          </a:xfrm>
          <a:prstGeom prst="roundRect">
            <a:avLst>
              <a:gd name="adj" fmla="val 3333"/>
            </a:avLst>
          </a:prstGeom>
          <a:solidFill>
            <a:srgbClr val="F4F8FA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3611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muy grande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63640" y="397764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Robin degenera en comportamiento similar a FCFS: pierde su ventaja de equidad.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Planificacion por Prioridades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188720" cy="11887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147" y="1863547"/>
            <a:ext cx="570586" cy="5705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03120" y="16916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proceso recibe un valor de prioridad; el planificador siempre elige al de mayor prioridad disponible.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2834640"/>
            <a:ext cx="5120640" cy="2651760"/>
          </a:xfrm>
          <a:prstGeom prst="roundRect">
            <a:avLst>
              <a:gd name="adj" fmla="val 2759"/>
            </a:avLst>
          </a:prstGeom>
          <a:solidFill>
            <a:srgbClr val="065A82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3063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Riesgo: inanicion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474720"/>
            <a:ext cx="4572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de baja prioridad pueden no ejecutarse nunca si siempre llegan procesos de mayor prioridad.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035040" y="2834640"/>
            <a:ext cx="5212080" cy="2651760"/>
          </a:xfrm>
          <a:prstGeom prst="roundRect">
            <a:avLst>
              <a:gd name="adj" fmla="val 2759"/>
            </a:avLst>
          </a:prstGeom>
          <a:solidFill>
            <a:srgbClr val="1C7293"/>
          </a:solidFill>
          <a:ln/>
        </p:spPr>
      </p:sp>
      <p:sp>
        <p:nvSpPr>
          <p:cNvPr id="10" name="Text 7"/>
          <p:cNvSpPr/>
          <p:nvPr/>
        </p:nvSpPr>
        <p:spPr>
          <a:xfrm>
            <a:off x="6309360" y="3063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 de prioridades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309360" y="3474720"/>
            <a:ext cx="4572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3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proceso de alta prioridad queda bloqueado esperando un recurso retenido por uno de baja prioridad.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0" y="914400"/>
            <a:ext cx="1463040" cy="14630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110" y="1294790"/>
            <a:ext cx="702259" cy="7022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651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30175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xv6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37947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proc.c y scheduler()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20624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¿Que observamos?</a:t>
            </a:r>
            <a:endParaRPr lang="en-US" sz="2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29844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3440" y="12801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proc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663440" y="16459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del PCB real de xv6: pid, state, context, sz, etc.</a:t>
            </a:r>
            <a:endParaRPr lang="en-US" sz="12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2258568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63440" y="22402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procstate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4663440" y="26060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definidos en xv6 - comparar con el modelo teorico de 5 estados</a:t>
            </a:r>
            <a:endParaRPr lang="en-US" sz="12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3218688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663440" y="32004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scheduler()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4663440" y="35661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Bucle de planificacion: ¿que algoritmo implementa realmente?</a:t>
            </a:r>
            <a:endParaRPr lang="en-US" sz="12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4178808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663440" y="41605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swtch()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4663440" y="452628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Rutina de bajo nivel que realiza el context switch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4206240" y="5212080"/>
            <a:ext cx="7315200" cy="1097280"/>
          </a:xfrm>
          <a:prstGeom prst="roundRect">
            <a:avLst>
              <a:gd name="adj" fmla="val 6667"/>
            </a:avLst>
          </a:prstGeom>
          <a:solidFill>
            <a:srgbClr val="F4F8FA"/>
          </a:solidFill>
          <a:ln/>
        </p:spPr>
      </p:sp>
      <p:sp>
        <p:nvSpPr>
          <p:cNvPr id="22" name="Text 15"/>
          <p:cNvSpPr/>
          <p:nvPr/>
        </p:nvSpPr>
        <p:spPr>
          <a:xfrm>
            <a:off x="4480560" y="5212080"/>
            <a:ext cx="6766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de Analisis xv6 - Unidad II: identifica el algoritmo de planificacion con evidencia del codigo.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Laboratorio: Observacion de Procesos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PID, estado y consumo de CPU de procesos reales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1B2B3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· Bash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F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aux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30632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F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84048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F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-o pid,ppid,state,cmd -p &lt;PID&gt;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46177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F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nice -n 10 sleep 60 &amp;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80760" y="155448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1B2B3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· PowerShell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22860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Get-Process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0" y="30632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Get-Process | Sort CPU -Desc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Select -First 5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0" y="384048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Get-Process -Id &lt;PID&gt; |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Format-List *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0" y="46177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Ajustar prioridad desde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Administrador de Tareas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 de Unidad y Entrega de Proyecto 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188720" cy="11887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147" y="1863547"/>
            <a:ext cx="570586" cy="5705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03120" y="16459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de Scheduling (C++)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2103120" y="20574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FCFS y Round Robin · 18% de la nota final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83464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65" y="2941625"/>
            <a:ext cx="197510" cy="19751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81635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espera y tiempo de retorno por proceso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40080" y="3493008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65" y="3599993"/>
            <a:ext cx="197510" cy="19751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0160" y="34747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Utilizacion de CPU comparada entre algoritmos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640080" y="4151376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65" y="4258361"/>
            <a:ext cx="197510" cy="19751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80160" y="413308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Robin con al menos 2 valores de quantum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640080" y="4809744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65" y="4916729"/>
            <a:ext cx="197510" cy="19751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80160" y="4791456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tecnico bajo norma IEEE</a:t>
            </a:r>
            <a:endParaRPr lang="en-US" sz="1450" dirty="0"/>
          </a:p>
        </p:txBody>
      </p:sp>
      <p:sp>
        <p:nvSpPr>
          <p:cNvPr id="19" name="Shape 12"/>
          <p:cNvSpPr/>
          <p:nvPr/>
        </p:nvSpPr>
        <p:spPr>
          <a:xfrm>
            <a:off x="548640" y="544068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20" name="Text 13"/>
          <p:cNvSpPr/>
          <p:nvPr/>
        </p:nvSpPr>
        <p:spPr>
          <a:xfrm>
            <a:off x="914400" y="54406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Proxima unidad: Unidad III - Concurrencia y Sincronizacion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281D321BE4CD48AE21B48FCB84677E" ma:contentTypeVersion="7" ma:contentTypeDescription="Create a new document." ma:contentTypeScope="" ma:versionID="adb953ef539c349c77245f1ce62f0cb2">
  <xsd:schema xmlns:xsd="http://www.w3.org/2001/XMLSchema" xmlns:xs="http://www.w3.org/2001/XMLSchema" xmlns:p="http://schemas.microsoft.com/office/2006/metadata/properties" xmlns:ns2="19f8f6e0-dc0c-467f-8bfc-9d5ad4717ca5" targetNamespace="http://schemas.microsoft.com/office/2006/metadata/properties" ma:root="true" ma:fieldsID="0c45cc067fc0355f7af830d171c2132a" ns2:_="">
    <xsd:import namespace="19f8f6e0-dc0c-467f-8bfc-9d5ad4717ca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f8f6e0-dc0c-467f-8bfc-9d5ad4717c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13C290-C2EF-4B97-A3BC-0DA82173D16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A55375B-78BC-4BB4-9BE8-04D8750D99F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A3AA6E4-90BA-402E-8D0A-94EF8057274E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TIIT2007 - Unidad II - Procesos y Scheduling</dc:title>
  <dc:subject>PptxGenJS Presentation</dc:subject>
  <dc:creator>Universidad Invenio</dc:creator>
  <cp:lastModifiedBy>Universidad Invenio</cp:lastModifiedBy>
  <cp:revision>2</cp:revision>
  <dcterms:created xsi:type="dcterms:W3CDTF">2026-06-21T21:35:31Z</dcterms:created>
  <dcterms:modified xsi:type="dcterms:W3CDTF">2026-07-17T17:23:14Z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0x01010083281D321BE4CD48AE21B48FCB84677E</vt:lpwstr>
  </property>
</Properties>
</file>