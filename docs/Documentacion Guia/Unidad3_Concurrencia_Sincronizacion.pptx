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Apertura con demostracion en vivo: dos hilos incrementando una variable compartida sin proteccion.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unidad cierra con la entrega del Proyecto 2 en Semana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activacion de la sesion. Mostrar codigo real ejecutandose varias veces con resultados distintos.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tres condiciones son los criterios clasicos para una solucion correcta de exclusion mutua.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de cierre: si solo necesito proteger una variable compartida, por que elegirias mutex sobre semaforo?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Vincular el caso Productor-Consumidor directamente con la especificacion del Proyecto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Romper cualquiera de las 4 condiciones previene el deadlock por definicion.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curso no exige implementar el algoritmo del banquero; basta con comprender conceptualmente las 3 estrategias.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Conectar directamente con la evidencia de condicion de carrera que el Proyecto 2 debe demostrar.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 Guia de Laboratorio 3 completa. Este laboratorio es insumo directo del Documento IEEE de Proyecto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Recordar checklist de entrega completo antes de cerrar la sesion.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297680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4206240"/>
            <a:ext cx="3840480" cy="3840480"/>
          </a:xfrm>
          <a:prstGeom prst="ellipse">
            <a:avLst/>
          </a:prstGeom>
          <a:solidFill>
            <a:srgbClr val="1C7293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052560" y="914400"/>
            <a:ext cx="1371600" cy="13716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9176" y="1271016"/>
            <a:ext cx="658368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3716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TIIT2007 · SISTEMAS OPERATIVOS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1828800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Unidad III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40080" y="265176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Concurrencia y Sincronizacion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40080" y="36576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  →  xv6  →  Linux/Windows  →  Modelado en C++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6126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8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Invenio · Licenciatura en TICE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de la Unidad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581912"/>
            <a:ext cx="219456" cy="219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426464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Condiciones de carrera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371600" y="17830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ocurren y como se manifiestan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23774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496312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340864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Exclusion mutua: mutex y semaforos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371600" y="26974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Mecanismos para proteger secciones criticas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40080" y="32918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410712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3255264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Casos clasicos de concurrencia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371600" y="36118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Productor-Consumidor, Lectores-Escritores, Filosofos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40080" y="42062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4325112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71600" y="4169664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Deadlocks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1371600" y="4526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Condiciones de Coffman y estrategias de manejo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640080" y="51206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5239512"/>
            <a:ext cx="219456" cy="21945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371600" y="5084064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xv6: spinlock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1371600" y="5440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Observacion de sincronizacion real en el kernel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Condiciones de Carrera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depende del orden impredecible de ejecucion de los hilos.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961120" y="1463040"/>
            <a:ext cx="2011680" cy="2011680"/>
          </a:xfrm>
          <a:prstGeom prst="ellipse">
            <a:avLst/>
          </a:prstGeom>
          <a:solidFill>
            <a:srgbClr val="F4F8F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4157" y="1986077"/>
            <a:ext cx="965606" cy="96560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916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dos hilos incrementan la misma variable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286000"/>
            <a:ext cx="7680960" cy="640080"/>
          </a:xfrm>
          <a:prstGeom prst="roundRect">
            <a:avLst>
              <a:gd name="adj" fmla="val 8571"/>
            </a:avLst>
          </a:prstGeom>
          <a:solidFill>
            <a:srgbClr val="F4F8FA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2860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Hilo A lee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3017520" y="22860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contador = 0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3035808"/>
            <a:ext cx="7680960" cy="640080"/>
          </a:xfrm>
          <a:prstGeom prst="roundRect">
            <a:avLst>
              <a:gd name="adj" fmla="val 8571"/>
            </a:avLst>
          </a:prstGeom>
          <a:solidFill>
            <a:srgbClr val="F4F8FA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3035808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Hilo B lee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017520" y="303580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contador = 0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3785616"/>
            <a:ext cx="7680960" cy="640080"/>
          </a:xfrm>
          <a:prstGeom prst="roundRect">
            <a:avLst>
              <a:gd name="adj" fmla="val 8571"/>
            </a:avLst>
          </a:prstGeom>
          <a:solidFill>
            <a:srgbClr val="F4F8FA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3785616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Hilo A escribe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3017520" y="3785616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contador = 1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4535424"/>
            <a:ext cx="7680960" cy="640080"/>
          </a:xfrm>
          <a:prstGeom prst="roundRect">
            <a:avLst>
              <a:gd name="adj" fmla="val 8571"/>
            </a:avLst>
          </a:prstGeom>
          <a:solidFill>
            <a:srgbClr val="F6E3D0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4535424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Hilo B escribe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3017520" y="4535424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5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contador = 1   ← se perdio un incremento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48640" y="52120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C5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esperado: contador = 2.  Resultado real: contador = 1.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Seccion Critica y Exclusion Mutua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1188720" cy="11887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9147" y="1863547"/>
            <a:ext cx="570586" cy="5705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03120" y="16459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Seccion critica: fragmento de codigo que accede a un recurso compartido y debe ejecutarse de forma atomica.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292608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65" y="3033065"/>
            <a:ext cx="197510" cy="19751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290779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Exclusion mutua: solo un hilo a la vez dentro de la seccion critica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640080" y="365760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065" y="3764585"/>
            <a:ext cx="197510" cy="19751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80160" y="363931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Progreso: si nadie esta dentro, alguien debe poder entrar</a:t>
            </a:r>
            <a:endParaRPr lang="en-US" sz="1450" dirty="0"/>
          </a:p>
        </p:txBody>
      </p:sp>
      <p:sp>
        <p:nvSpPr>
          <p:cNvPr id="12" name="Shape 7"/>
          <p:cNvSpPr/>
          <p:nvPr/>
        </p:nvSpPr>
        <p:spPr>
          <a:xfrm>
            <a:off x="640080" y="438912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065" y="4496105"/>
            <a:ext cx="197510" cy="19751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80160" y="437083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 acotada: ningun hilo espera indefinidamente</a:t>
            </a:r>
            <a:endParaRPr lang="en-US" sz="1450" dirty="0"/>
          </a:p>
        </p:txBody>
      </p:sp>
      <p:sp>
        <p:nvSpPr>
          <p:cNvPr id="15" name="Shape 9"/>
          <p:cNvSpPr/>
          <p:nvPr/>
        </p:nvSpPr>
        <p:spPr>
          <a:xfrm>
            <a:off x="640080" y="5394960"/>
            <a:ext cx="10241280" cy="1005840"/>
          </a:xfrm>
          <a:prstGeom prst="roundRect">
            <a:avLst>
              <a:gd name="adj" fmla="val 7273"/>
            </a:avLst>
          </a:prstGeom>
          <a:solidFill>
            <a:srgbClr val="065A82"/>
          </a:solidFill>
          <a:ln/>
        </p:spPr>
      </p:sp>
      <p:sp>
        <p:nvSpPr>
          <p:cNvPr id="16" name="Text 10"/>
          <p:cNvSpPr/>
          <p:nvPr/>
        </p:nvSpPr>
        <p:spPr>
          <a:xfrm>
            <a:off x="914400" y="5394960"/>
            <a:ext cx="9692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exclusion mutua es el requisito; mutex y semaforos son los mecanismos para lograrla.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Mutex vs. Semaforo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21295C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69164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" y="186994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1783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Mutex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24688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Binario: bloqueado o libre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68680" y="30632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libera el mismo hilo que lo adquirio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68680" y="36576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 exactamente una seccion critica a la vez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68680" y="42519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std::mutex en C++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035040" y="137160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F4F8FA"/>
          </a:solidFill>
          <a:ln/>
        </p:spPr>
      </p:sp>
      <p:sp>
        <p:nvSpPr>
          <p:cNvPr id="12" name="Shape 9"/>
          <p:cNvSpPr/>
          <p:nvPr/>
        </p:nvSpPr>
        <p:spPr>
          <a:xfrm>
            <a:off x="6355080" y="169164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3388" y="186994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23760" y="1783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Semaforo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355080" y="24688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Contador: permite N accesos simultaneos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6355080" y="30632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hilo puede liberarlo (no solo quien lo tomo)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6355080" y="36576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 para limitar acceso a un pool de recursos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6355080" y="42519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Binario (0/1) o contador (N)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Casos Clasicos de Concurrencia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20440" cy="4389120"/>
          </a:xfrm>
          <a:prstGeom prst="roundRect">
            <a:avLst>
              <a:gd name="adj" fmla="val 2078"/>
            </a:avLst>
          </a:prstGeom>
          <a:solidFill>
            <a:srgbClr val="F4F8F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73736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042" y="1939442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517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Productor-Consumidor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329184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Productores generan datos hacia un buffer finito; consumidores los retiran. Riesgo: buffer lleno/vacio sin coordinacion.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22960" y="5166360"/>
            <a:ext cx="301752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51663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del Proyecto 2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51960" y="1417320"/>
            <a:ext cx="3520440" cy="4389120"/>
          </a:xfrm>
          <a:prstGeom prst="roundRect">
            <a:avLst>
              <a:gd name="adj" fmla="val 2078"/>
            </a:avLst>
          </a:prstGeom>
          <a:solidFill>
            <a:srgbClr val="F4F8FA"/>
          </a:solidFill>
          <a:ln/>
        </p:spPr>
      </p:sp>
      <p:sp>
        <p:nvSpPr>
          <p:cNvPr id="11" name="Shape 8"/>
          <p:cNvSpPr/>
          <p:nvPr/>
        </p:nvSpPr>
        <p:spPr>
          <a:xfrm>
            <a:off x="4526280" y="173736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362" y="1939442"/>
            <a:ext cx="373075" cy="3730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26280" y="26517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Lectores-Escritores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26280" y="329184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Multiples lectores pueden acceder a la vez; un escritor requiere acceso exclusivo. Riesgo: inanicion de escritores o lectores.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526280" y="5166360"/>
            <a:ext cx="301752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6" name="Text 12"/>
          <p:cNvSpPr/>
          <p:nvPr/>
        </p:nvSpPr>
        <p:spPr>
          <a:xfrm>
            <a:off x="4526280" y="51663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Conexion con permisos de archivos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7955280" y="1417320"/>
            <a:ext cx="3520440" cy="4389120"/>
          </a:xfrm>
          <a:prstGeom prst="roundRect">
            <a:avLst>
              <a:gd name="adj" fmla="val 2078"/>
            </a:avLst>
          </a:prstGeom>
          <a:solidFill>
            <a:srgbClr val="F4F8FA"/>
          </a:solidFill>
          <a:ln/>
        </p:spPr>
      </p:sp>
      <p:sp>
        <p:nvSpPr>
          <p:cNvPr id="18" name="Shape 14"/>
          <p:cNvSpPr/>
          <p:nvPr/>
        </p:nvSpPr>
        <p:spPr>
          <a:xfrm>
            <a:off x="8229600" y="173736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1682" y="1939442"/>
            <a:ext cx="373075" cy="37307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29600" y="26517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Filosofos Comensales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229600" y="329184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filosofos, 5 tenedores compartidos. Riesgo: deadlock si todos toman el tenedor izquierdo a la vez.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8229600" y="5166360"/>
            <a:ext cx="301752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3" name="Text 18"/>
          <p:cNvSpPr/>
          <p:nvPr/>
        </p:nvSpPr>
        <p:spPr>
          <a:xfrm>
            <a:off x="8229600" y="51663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Ilustra deadlock circular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Deadlock: Condiciones de Coffman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4 condiciones que deben cumplirse simultaneamente para que ocurra un deadlock.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1508760" y="210312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21031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Exclusion mutua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61188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menos un recurso debe mantenerse en modo no compartible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82880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065A82"/>
          </a:solidFill>
          <a:ln/>
        </p:spPr>
      </p:sp>
      <p:sp>
        <p:nvSpPr>
          <p:cNvPr id="10" name="Shape 8"/>
          <p:cNvSpPr/>
          <p:nvPr/>
        </p:nvSpPr>
        <p:spPr>
          <a:xfrm>
            <a:off x="4297680" y="210312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21031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20440" y="297180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Retencion y espera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20440" y="361188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proceso retiene recursos mientras espera otros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82880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065A82"/>
          </a:solidFill>
          <a:ln/>
        </p:spPr>
      </p:sp>
      <p:sp>
        <p:nvSpPr>
          <p:cNvPr id="15" name="Shape 13"/>
          <p:cNvSpPr/>
          <p:nvPr/>
        </p:nvSpPr>
        <p:spPr>
          <a:xfrm>
            <a:off x="7086600" y="210312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086600" y="21031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09360" y="297180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apropiacion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361188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recursos no pueden ser retirados a la fuerza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15400" y="182880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065A82"/>
          </a:solidFill>
          <a:ln/>
        </p:spPr>
      </p:sp>
      <p:sp>
        <p:nvSpPr>
          <p:cNvPr id="20" name="Shape 18"/>
          <p:cNvSpPr/>
          <p:nvPr/>
        </p:nvSpPr>
        <p:spPr>
          <a:xfrm>
            <a:off x="9875520" y="210312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9875520" y="21031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098280" y="297180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 circular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098280" y="361188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una cadena circular de procesos esperandose entre si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Manejo de Deadlocks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4F8F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78308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199705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743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Prevencion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324612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al menos una de las 4 condiciones de Coffman por diseño (p. ej. ordenar la adquisicion de recursos).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251960" y="146304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4F8FA"/>
          </a:solidFill>
          <a:ln/>
        </p:spPr>
      </p:sp>
      <p:sp>
        <p:nvSpPr>
          <p:cNvPr id="9" name="Shape 6"/>
          <p:cNvSpPr/>
          <p:nvPr/>
        </p:nvSpPr>
        <p:spPr>
          <a:xfrm>
            <a:off x="4526280" y="178308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0250" y="1997050"/>
            <a:ext cx="395021" cy="39502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26280" y="2743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Evitacion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526280" y="324612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el estado del sistema antes de asignar recursos (p. ej. algoritmo del banquero) para nunca entrar en estado inseguro.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955280" y="146304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4F8FA"/>
          </a:solidFill>
          <a:ln/>
        </p:spPr>
      </p:sp>
      <p:sp>
        <p:nvSpPr>
          <p:cNvPr id="14" name="Shape 10"/>
          <p:cNvSpPr/>
          <p:nvPr/>
        </p:nvSpPr>
        <p:spPr>
          <a:xfrm>
            <a:off x="8229600" y="178308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3570" y="1997050"/>
            <a:ext cx="395021" cy="39502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29600" y="2743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Deteccion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229600" y="324612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Permitir que el deadlock ocurra y detectarlo mediante un grafo de espera, luego recuperarse (terminar o hacer rollback).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0" y="914400"/>
            <a:ext cx="1463040" cy="14630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9110" y="1294790"/>
            <a:ext cx="702259" cy="7022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651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30175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xv6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57200" y="37947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spinlock.c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20624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¿Que observamos?</a:t>
            </a:r>
            <a:endParaRPr lang="en-US" sz="2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29844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63440" y="12801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spinlock.h / spinlock.c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4663440" y="16459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lock y funciones acquire() / release()</a:t>
            </a:r>
            <a:endParaRPr lang="en-US" sz="12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2258568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663440" y="22402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¿Spinlock vs. lock que duerme?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4663440" y="260604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el kernel usa espera activa en lugar de bloquear el hilo</a:t>
            </a:r>
            <a:endParaRPr lang="en-US" sz="12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3218688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663440" y="32004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Usos en el kernel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4663440" y="35661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Ubicar al menos 2 ejemplos reales de acquire()/release() en el codigo</a:t>
            </a:r>
            <a:endParaRPr lang="en-US" sz="12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0" y="4178808"/>
            <a:ext cx="292608" cy="29260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663440" y="41605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Recurso protegido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4663440" y="452628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¿Que dato compartido protege cada uso identificado?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4206240" y="5212080"/>
            <a:ext cx="7315200" cy="1097280"/>
          </a:xfrm>
          <a:prstGeom prst="roundRect">
            <a:avLst>
              <a:gd name="adj" fmla="val 6667"/>
            </a:avLst>
          </a:prstGeom>
          <a:solidFill>
            <a:srgbClr val="F4F8FA"/>
          </a:solidFill>
          <a:ln/>
        </p:spPr>
      </p:sp>
      <p:sp>
        <p:nvSpPr>
          <p:cNvPr id="22" name="Text 15"/>
          <p:cNvSpPr/>
          <p:nvPr/>
        </p:nvSpPr>
        <p:spPr>
          <a:xfrm>
            <a:off x="4480560" y="5212080"/>
            <a:ext cx="6766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de Analisis xv6 - Unidad III: localiza 2-3 usos de acquire()/release() y explica que protegen.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Laboratorio: Evidencia de Condicion de Carrera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Provocar y luego corregir una condicion de carrera controlada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1B2B3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· Bash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F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"A" &gt;&gt; race.txt &amp;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27432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F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"B" &gt;&gt; race.txt &amp;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32004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F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wait; cat race.txt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36576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41148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F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 proteccion: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45720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F7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flock race.lock -c '...'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80760" y="155448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1B2B3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· PowerShell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22860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Start-Job { "A" | Out-File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27432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race.txt -Append }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32004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Start-Job { "B" | ... }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36576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Wait-Job *; Get-Content race.txt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41148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45720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 Mutex de .NET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Cierre de Unidad y Entrega de Proyecto 2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1188720" cy="11887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9147" y="1863547"/>
            <a:ext cx="570586" cy="5705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03120" y="16459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de Concurrencia (C++)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2103120" y="20574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Productor-Consumidor con threads y mutex · 18% de la nota final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83464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65" y="2941625"/>
            <a:ext cx="197510" cy="19751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81635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sin sincronizacion: evidencia reproducible de condicion de carrera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40080" y="3493008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065" y="3599993"/>
            <a:ext cx="197510" cy="19751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80160" y="34747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 sincronizacion: mutex protegiendo la seccion critica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640080" y="4151376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065" y="4258361"/>
            <a:ext cx="197510" cy="19751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80160" y="413308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Comparacion cuantitativa entre ambas versiones (minimo 5 corridas c/u)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640080" y="4809744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065" y="4916729"/>
            <a:ext cx="197510" cy="19751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80160" y="4791456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tecnico bajo norma IEEE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548640" y="544068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</p:sp>
      <p:sp>
        <p:nvSpPr>
          <p:cNvPr id="20" name="Text 13"/>
          <p:cNvSpPr/>
          <p:nvPr/>
        </p:nvSpPr>
        <p:spPr>
          <a:xfrm>
            <a:off x="914400" y="54406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Proxima unidad: Unidad IV - Gestion de Memoria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3281D321BE4CD48AE21B48FCB84677E" ma:contentTypeVersion="7" ma:contentTypeDescription="Create a new document." ma:contentTypeScope="" ma:versionID="adb953ef539c349c77245f1ce62f0cb2">
  <xsd:schema xmlns:xsd="http://www.w3.org/2001/XMLSchema" xmlns:xs="http://www.w3.org/2001/XMLSchema" xmlns:p="http://schemas.microsoft.com/office/2006/metadata/properties" xmlns:ns2="19f8f6e0-dc0c-467f-8bfc-9d5ad4717ca5" targetNamespace="http://schemas.microsoft.com/office/2006/metadata/properties" ma:root="true" ma:fieldsID="0c45cc067fc0355f7af830d171c2132a" ns2:_="">
    <xsd:import namespace="19f8f6e0-dc0c-467f-8bfc-9d5ad4717ca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f8f6e0-dc0c-467f-8bfc-9d5ad4717c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174B334-3155-4BAD-A015-DFAB2E6ADE99}"/>
</file>

<file path=customXml/itemProps2.xml><?xml version="1.0" encoding="utf-8"?>
<ds:datastoreItem xmlns:ds="http://schemas.openxmlformats.org/officeDocument/2006/customXml" ds:itemID="{BCF96AD2-C60E-4A64-B144-E3171A894528}"/>
</file>

<file path=customXml/itemProps3.xml><?xml version="1.0" encoding="utf-8"?>
<ds:datastoreItem xmlns:ds="http://schemas.openxmlformats.org/officeDocument/2006/customXml" ds:itemID="{ED41E84C-8578-49E9-BA67-AACA0E7169AB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TIIT2007 - Unidad III - Concurrencia y Sincronizacion</dc:title>
  <dc:subject>PptxGenJS Presentation</dc:subject>
  <dc:creator>Universidad Invenio</dc:creator>
  <cp:lastModifiedBy>Universidad Invenio</cp:lastModifiedBy>
  <cp:revision>1</cp:revision>
  <dcterms:created xsi:type="dcterms:W3CDTF">2026-06-21T21:38:02Z</dcterms:created>
  <dcterms:modified xsi:type="dcterms:W3CDTF">2026-06-21T21:38:02Z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0x01010083281D321BE4CD48AE21B48FCB84677E</vt:lpwstr>
  </property>
</Properties>
</file>