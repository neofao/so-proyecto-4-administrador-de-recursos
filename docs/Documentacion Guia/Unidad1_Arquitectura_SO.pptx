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 del curso. Recordar de inmediato qué NO es el curso (no administración, no DevOps) antes de entrar en materia.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Recorrido general; enfatizar que cada unidad sigue siempre esta misma secuencia de 4 perspectivas.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detonadora antes de esta diapositiva: qué pasa entre encender la PC y ver el escritorio.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con la pregunta: ¿por qué pasamos de lotes a tiempo compartido? Costo del hardware vs. productividad de usuarios.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separación es la razón por la cual una app que se cuelga no apaga toda la computadora. Conectar con system calls a continuación.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en vivo sugerido: strace de un comando simple en Linux para ver las system calls reales.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Linux es modular pero sigue siendo monolítico: los módulos cargan dentro del mismo espacio de kernel, no en procesos aislados.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Minix es el ejemplo académico clásico; mencionar que xv6, que observaremos, es más cercano a monolítico simplificado que a microkernel.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de cierre: ¿por qué Windows NT eligió un híbrido en lugar de un microkernel puro como Minix?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Recorrido guiado en vivo del repositorio xv6, solo lectura. Conectar con la Guía de Análisis xv6 Unidad I como tarea dirigida.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 Guía de Laboratorio 1 completa. Preguntas de análisis: evidencia de kernel modular en Linux vs. arquitectura híbrida en Windows.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con la pregunta integradora: ¿qué arquitectura eligirías si construyeras un SO desde cero hoy, y por qué?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4206240"/>
            <a:ext cx="3840480" cy="3840480"/>
          </a:xfrm>
          <a:prstGeom prst="ellipse">
            <a:avLst/>
          </a:prstGeom>
          <a:solidFill>
            <a:srgbClr val="1C7293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052560" y="914400"/>
            <a:ext cx="1371600" cy="13716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9176" y="1271016"/>
            <a:ext cx="658368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3716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TIIT2007 · SISTEMAS OPERATIVOS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82880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Unidad I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265176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 Sistemas Operativos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40080" y="36576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 →  xv6  →  Linux/Windows  →  Modelado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6126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Invenio · Licenciatura en TICE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la Unidad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581912"/>
            <a:ext cx="219456" cy="219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42646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¿Qué es un sistema operativo?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371600" y="17830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esenciales y evolución histórica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23774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496312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34086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Kernel vs. user space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371600" y="26974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calls y modos de ejecución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32918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410712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325526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Arquitecturas: monolítica, microkernel, híbrida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371600" y="3611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crítica con ejemplos reales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0080" y="4206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4325112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416966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xv6: observación de boot y estructura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1371600" y="4526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teoría → implementación real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640080" y="5120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5239512"/>
            <a:ext cx="219456" cy="2194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71600" y="508406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Laboratorio profesional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1371600" y="5440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Inspección de arquitectura en Linux y Windows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un Sistema Operativo?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intermediario entre el hardware y los programas de usuario.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78240" y="1554480"/>
            <a:ext cx="2377440" cy="2377440"/>
          </a:xfrm>
          <a:prstGeom prst="ellipse">
            <a:avLst/>
          </a:prstGeom>
          <a:solidFill>
            <a:srgbClr val="F4F8F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6374" y="2172614"/>
            <a:ext cx="1141171" cy="114117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37360"/>
            <a:ext cx="7589520" cy="868680"/>
          </a:xfrm>
          <a:prstGeom prst="roundRect">
            <a:avLst>
              <a:gd name="adj" fmla="val 8421"/>
            </a:avLst>
          </a:prstGeom>
          <a:solidFill>
            <a:srgbClr val="F4F8FA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810512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procesos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21488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Crea, planifica y termina procesos en ejecución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761488"/>
            <a:ext cx="7589520" cy="868680"/>
          </a:xfrm>
          <a:prstGeom prst="roundRect">
            <a:avLst>
              <a:gd name="adj" fmla="val 8421"/>
            </a:avLst>
          </a:prstGeom>
          <a:solidFill>
            <a:srgbClr val="F4F8FA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28346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memoria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77240" y="3172968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 y protege el espacio de direcciones de cada proceso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3785616"/>
            <a:ext cx="7589520" cy="868680"/>
          </a:xfrm>
          <a:prstGeom prst="roundRect">
            <a:avLst>
              <a:gd name="adj" fmla="val 8421"/>
            </a:avLst>
          </a:prstGeom>
          <a:solidFill>
            <a:srgbClr val="F4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85876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archivos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777240" y="4197096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 y protege la información persistente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4809744"/>
            <a:ext cx="7589520" cy="868680"/>
          </a:xfrm>
          <a:prstGeom prst="roundRect">
            <a:avLst>
              <a:gd name="adj" fmla="val 8421"/>
            </a:avLst>
          </a:prstGeom>
          <a:solidFill>
            <a:srgbClr val="F4F8FA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4882896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dispositivos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777240" y="522122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 la E/S entre programas y hardware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Evolución de los Sistemas Operativos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05840" y="2743200"/>
            <a:ext cx="96926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2578608"/>
            <a:ext cx="329184" cy="329184"/>
          </a:xfrm>
          <a:prstGeom prst="ellipse">
            <a:avLst/>
          </a:prstGeom>
          <a:solidFill>
            <a:srgbClr val="9FD3E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por lotes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interacción directa; trabajos en cola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49040" y="2578608"/>
            <a:ext cx="329184" cy="329184"/>
          </a:xfrm>
          <a:prstGeom prst="ellipse">
            <a:avLst/>
          </a:prstGeom>
          <a:solidFill>
            <a:srgbClr val="9FD3E8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1965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1960s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29000" y="3108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compartido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29000" y="36118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usuarios comparten la CPU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55080" y="2578608"/>
            <a:ext cx="329184" cy="329184"/>
          </a:xfrm>
          <a:prstGeom prst="ellipse">
            <a:avLst/>
          </a:prstGeom>
          <a:solidFill>
            <a:srgbClr val="9FD3E8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0" y="1965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35040" y="3108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Multiusuario / Multitarea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035040" y="36118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robusta de procesos y memoria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61120" y="2578608"/>
            <a:ext cx="329184" cy="329184"/>
          </a:xfrm>
          <a:prstGeom prst="ellipse">
            <a:avLst/>
          </a:prstGeom>
          <a:solidFill>
            <a:srgbClr val="9FD3E8"/>
          </a:solidFill>
          <a:ln/>
        </p:spPr>
      </p:sp>
      <p:sp>
        <p:nvSpPr>
          <p:cNvPr id="17" name="Text 15"/>
          <p:cNvSpPr/>
          <p:nvPr/>
        </p:nvSpPr>
        <p:spPr>
          <a:xfrm>
            <a:off x="8641080" y="1965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41080" y="3108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modernos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41080" y="36118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Móviles, contenedores, virtualización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Kernel Mode vs. User Mode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120640" cy="4206240"/>
          </a:xfrm>
          <a:prstGeom prst="roundRect">
            <a:avLst>
              <a:gd name="adj" fmla="val 1739"/>
            </a:avLst>
          </a:prstGeom>
          <a:solidFill>
            <a:srgbClr val="F4F8FA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6916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185806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783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Space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51460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y programas de usuario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310896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restringido al hardware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370332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 servicios mediante system calls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429768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fallo aquí no compromete el kernel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0" y="1371600"/>
            <a:ext cx="5120640" cy="4206240"/>
          </a:xfrm>
          <a:prstGeom prst="roundRect">
            <a:avLst>
              <a:gd name="adj" fmla="val 1739"/>
            </a:avLst>
          </a:prstGeom>
          <a:solidFill>
            <a:srgbClr val="21295C"/>
          </a:solidFill>
          <a:ln/>
        </p:spPr>
      </p:sp>
      <p:sp>
        <p:nvSpPr>
          <p:cNvPr id="12" name="Shape 9"/>
          <p:cNvSpPr/>
          <p:nvPr/>
        </p:nvSpPr>
        <p:spPr>
          <a:xfrm>
            <a:off x="6263640" y="16916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061" y="1858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86600" y="1783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Space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263640" y="251460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total al hardware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263640" y="310896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procesos, memoria, dispositivos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263640" y="370332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en modo privilegiado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263640" y="429768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fallo aquí puede colapsar el sistema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532120" y="1463040"/>
            <a:ext cx="36576" cy="4023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6"/>
          <p:cNvSpPr/>
          <p:nvPr/>
        </p:nvSpPr>
        <p:spPr>
          <a:xfrm>
            <a:off x="5257800" y="32461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446" y="3388766"/>
            <a:ext cx="263347" cy="2633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Llamadas al Sistema (System Calls)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único puente formal entre el programa de usuario y el kernel.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F4F8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3040" y="21031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21031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297180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usuario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61188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Invoca una función como read() o fork()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0672" y="3200400"/>
            <a:ext cx="320040" cy="3200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337560" y="182880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F4F8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51960" y="21031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9"/>
          <p:cNvSpPr/>
          <p:nvPr/>
        </p:nvSpPr>
        <p:spPr>
          <a:xfrm>
            <a:off x="4251960" y="21031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474720" y="297180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Trampa al kernel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474720" y="361188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procesador cambia a modo privilegiado</a:t>
            </a:r>
            <a:endParaRPr lang="en-US" sz="11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592" y="3200400"/>
            <a:ext cx="320040" cy="32004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126480" y="182880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F4F8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040880" y="21031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4"/>
          <p:cNvSpPr/>
          <p:nvPr/>
        </p:nvSpPr>
        <p:spPr>
          <a:xfrm>
            <a:off x="7040880" y="21031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6263640" y="297180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ejecuta el servicio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263640" y="361188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Accede a hardware/recursos protegidos</a:t>
            </a:r>
            <a:endParaRPr lang="en-US" sz="11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3200400"/>
            <a:ext cx="320040" cy="32004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8915400" y="182880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F4F8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829800" y="21031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19"/>
          <p:cNvSpPr/>
          <p:nvPr/>
        </p:nvSpPr>
        <p:spPr>
          <a:xfrm>
            <a:off x="9829800" y="21031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0"/>
          <p:cNvSpPr/>
          <p:nvPr/>
        </p:nvSpPr>
        <p:spPr>
          <a:xfrm>
            <a:off x="9052560" y="297180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a user space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9052560" y="361188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se entrega al programa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Monolítica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03520" cy="4297680"/>
          </a:xfrm>
          <a:prstGeom prst="roundRect">
            <a:avLst>
              <a:gd name="adj" fmla="val 1702"/>
            </a:avLst>
          </a:prstGeom>
          <a:solidFill>
            <a:srgbClr val="21295C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783080"/>
            <a:ext cx="4572000" cy="566928"/>
          </a:xfrm>
          <a:prstGeom prst="roundRect">
            <a:avLst>
              <a:gd name="adj" fmla="val 9677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procesos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914400" y="2532888"/>
            <a:ext cx="4572000" cy="566928"/>
          </a:xfrm>
          <a:prstGeom prst="roundRect">
            <a:avLst>
              <a:gd name="adj" fmla="val 9677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532888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memoria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3282696"/>
            <a:ext cx="4572000" cy="566928"/>
          </a:xfrm>
          <a:prstGeom prst="roundRect">
            <a:avLst>
              <a:gd name="adj" fmla="val 9677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282696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archivos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14400" y="4032504"/>
            <a:ext cx="4572000" cy="566928"/>
          </a:xfrm>
          <a:prstGeom prst="roundRect">
            <a:avLst>
              <a:gd name="adj" fmla="val 9677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032504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de dispositivos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14400" y="4782312"/>
            <a:ext cx="4572000" cy="566928"/>
          </a:xfrm>
          <a:prstGeom prst="roundRect">
            <a:avLst>
              <a:gd name="adj" fmla="val 9677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782312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92240" y="182880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4322" y="2030882"/>
            <a:ext cx="373075" cy="37307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126480" y="283464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sistema operativo corre en un único espacio de kernel.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126480" y="3657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126480" y="39776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rendimiento; comunicación interna directa y rápida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126480" y="4526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Desventajas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126480" y="48463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error en un driver puede colapsar todo el sistema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126480" y="54406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real: Linux (monolítico modular)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Microkernel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21295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Microkernel mínimo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· Planificación básica · Gestión mínima de memoria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1645920" cy="914400"/>
          </a:xfrm>
          <a:prstGeom prst="roundRect">
            <a:avLst>
              <a:gd name="adj" fmla="val 6000"/>
            </a:avLst>
          </a:prstGeom>
          <a:solidFill>
            <a:srgbClr val="F4F8F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8346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371600" y="2560320"/>
            <a:ext cx="0" cy="27432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0" y="2834640"/>
            <a:ext cx="1645920" cy="914400"/>
          </a:xfrm>
          <a:prstGeom prst="roundRect">
            <a:avLst>
              <a:gd name="adj" fmla="val 6000"/>
            </a:avLst>
          </a:prstGeom>
          <a:solidFill>
            <a:srgbClr val="F4F8FA"/>
          </a:solidFill>
          <a:ln/>
        </p:spPr>
      </p:sp>
      <p:sp>
        <p:nvSpPr>
          <p:cNvPr id="10" name="Text 8"/>
          <p:cNvSpPr/>
          <p:nvPr/>
        </p:nvSpPr>
        <p:spPr>
          <a:xfrm>
            <a:off x="2377440" y="28346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archivos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0" y="2560320"/>
            <a:ext cx="0" cy="27432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6240" y="2834640"/>
            <a:ext cx="1645920" cy="914400"/>
          </a:xfrm>
          <a:prstGeom prst="roundRect">
            <a:avLst>
              <a:gd name="adj" fmla="val 6000"/>
            </a:avLst>
          </a:prstGeom>
          <a:solidFill>
            <a:srgbClr val="F4F8FA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0" y="28346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de red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0" y="2560320"/>
            <a:ext cx="0" cy="27432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02336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servicio corre como proceso aislado en user space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126480" y="1463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178308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estabilidad: un driver con fallo no colapsa el kernel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126480" y="2377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Desventajas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269748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comunicación entre procesos (IPC) reduce el rendimiento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126480" y="32918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real: Minix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869680" y="4206240"/>
            <a:ext cx="1463040" cy="1463040"/>
          </a:xfrm>
          <a:prstGeom prst="ellipse">
            <a:avLst/>
          </a:prstGeom>
          <a:solidFill>
            <a:srgbClr val="F4F8FA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0070" y="4586630"/>
            <a:ext cx="702259" cy="7022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Comparación de Arquitecturas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0881360" cy="2743200"/>
        </p:xfrm>
        <a:graphic>
          <a:graphicData uri="http://schemas.openxmlformats.org/drawingml/2006/table">
            <a:tbl>
              <a:tblPr/>
              <a:tblGrid>
                <a:gridCol w="3200400"/>
                <a:gridCol w="2560320"/>
                <a:gridCol w="2560320"/>
                <a:gridCol w="256032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Monolítica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Microkernel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Híbrida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B8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Rendimiento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Menor (más IPC)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Alto, balanceado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Estabilidad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Media-alta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Complejidad de diseño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 real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389120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F4F8FA"/>
          </a:solidFill>
          <a:ln/>
        </p:spPr>
      </p:sp>
      <p:sp>
        <p:nvSpPr>
          <p:cNvPr id="5" name="Shape 2"/>
          <p:cNvSpPr/>
          <p:nvPr/>
        </p:nvSpPr>
        <p:spPr>
          <a:xfrm>
            <a:off x="868680" y="466344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198" y="4924958"/>
            <a:ext cx="482803" cy="48280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103120" y="457200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NT: arquitectura híbrida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2103120" y="4983480"/>
            <a:ext cx="8961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un núcleo compacto con servicios adicionales ejecutándose en modo kernel por razones de rendimiento, sin llegar a ser un microkernel puro.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0" y="914400"/>
            <a:ext cx="1463040" cy="14630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9110" y="1294790"/>
            <a:ext cx="702259" cy="7022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651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OBSERVACIÓN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30175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xv6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37490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se observa. No se modifica ni se compila con cambios.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206240" y="4572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general y proceso de Boot</a:t>
            </a:r>
            <a:endParaRPr lang="en-US" sz="2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41732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3440" y="13716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bootasm.S / bootmain.c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663440" y="173736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3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de arranque: primer código ejecutado tras encender la máquina virtual</a:t>
            </a:r>
            <a:endParaRPr lang="en-US" sz="1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2560320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63440" y="25146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main.c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4663440" y="288036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3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Inicialización del kernel: configura memoria, interrupciones y arranca el primer proceso</a:t>
            </a:r>
            <a:endParaRPr lang="en-US" sz="12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3703320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663440" y="36576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carpetas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4663440" y="402336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3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clara entre código de kernel y programas de usuario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4206240" y="5120640"/>
            <a:ext cx="7498080" cy="1188720"/>
          </a:xfrm>
          <a:prstGeom prst="roundRect">
            <a:avLst>
              <a:gd name="adj" fmla="val 6154"/>
            </a:avLst>
          </a:prstGeom>
          <a:solidFill>
            <a:srgbClr val="1C7293">
              <a:alpha val="85000"/>
            </a:srgbClr>
          </a:solidFill>
          <a:ln/>
        </p:spPr>
      </p:sp>
      <p:sp>
        <p:nvSpPr>
          <p:cNvPr id="19" name="Text 13"/>
          <p:cNvSpPr/>
          <p:nvPr/>
        </p:nvSpPr>
        <p:spPr>
          <a:xfrm>
            <a:off x="4480560" y="512064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Análisis xv6 — Unidad I: preguntas guía sobre boot y estructura del kernel.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Laboratorio: Identificación de Arquitectura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comparativos para inspeccionar el sistema en uso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1B2B3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· Bash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F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uname -a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3063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F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lscpu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840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F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/proc/version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617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F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lsmod | head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80760" y="155448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1B2B3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· PowerShell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22860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systeminfo | findstr 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30632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Get-ComputerInfo |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CsProcessors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384048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Get-ComputerInfo |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OsVersion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46177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Get-WindowsDriver -Online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esencial de esta unidad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5" y="1661465"/>
            <a:ext cx="197510" cy="19751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53619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 gestiona procesos, memoria, archivos y dispositivos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233172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65" y="2438705"/>
            <a:ext cx="197510" cy="19751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231343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y user space se separan para proteger la estabilidad del sistema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40080" y="310896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65" y="3215945"/>
            <a:ext cx="197510" cy="19751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309067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Monolítica, microkernel e híbrida son tres formas distintas de organizar el kernel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640080" y="388620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65" y="3993185"/>
            <a:ext cx="197510" cy="19751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80160" y="386791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xv6 nos permite observar estos conceptos en código real, sin modificarlo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548640" y="502920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065A82"/>
          </a:solidFill>
          <a:ln/>
        </p:spPr>
      </p:sp>
      <p:sp>
        <p:nvSpPr>
          <p:cNvPr id="16" name="Text 10"/>
          <p:cNvSpPr/>
          <p:nvPr/>
        </p:nvSpPr>
        <p:spPr>
          <a:xfrm>
            <a:off x="914400" y="5029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sesión: Unidad II — Procesos y Scheduling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914400" y="5623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Guía de Análisis xv6 – Unidad I  ·  Apertura del Proyecto 1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281D321BE4CD48AE21B48FCB84677E" ma:contentTypeVersion="7" ma:contentTypeDescription="Create a new document." ma:contentTypeScope="" ma:versionID="adb953ef539c349c77245f1ce62f0cb2">
  <xsd:schema xmlns:xsd="http://www.w3.org/2001/XMLSchema" xmlns:xs="http://www.w3.org/2001/XMLSchema" xmlns:p="http://schemas.microsoft.com/office/2006/metadata/properties" xmlns:ns2="19f8f6e0-dc0c-467f-8bfc-9d5ad4717ca5" targetNamespace="http://schemas.microsoft.com/office/2006/metadata/properties" ma:root="true" ma:fieldsID="0c45cc067fc0355f7af830d171c2132a" ns2:_="">
    <xsd:import namespace="19f8f6e0-dc0c-467f-8bfc-9d5ad4717ca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f8f6e0-dc0c-467f-8bfc-9d5ad4717c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4D672FF-2896-40DA-832A-663D2BB6BEF1}"/>
</file>

<file path=customXml/itemProps2.xml><?xml version="1.0" encoding="utf-8"?>
<ds:datastoreItem xmlns:ds="http://schemas.openxmlformats.org/officeDocument/2006/customXml" ds:itemID="{A8D33074-2A2C-4115-84B5-8C9F1DA9FEB9}"/>
</file>

<file path=customXml/itemProps3.xml><?xml version="1.0" encoding="utf-8"?>
<ds:datastoreItem xmlns:ds="http://schemas.openxmlformats.org/officeDocument/2006/customXml" ds:itemID="{078759DD-29E9-4167-AA28-7745A6586F3F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TIIT2007 - Unidad I - Arquitectura de Sistemas Operativos</dc:title>
  <dc:subject>PptxGenJS Presentation</dc:subject>
  <dc:creator>Universidad Invenio</dc:creator>
  <cp:lastModifiedBy>Universidad Invenio</cp:lastModifiedBy>
  <cp:revision>1</cp:revision>
  <dcterms:created xsi:type="dcterms:W3CDTF">2026-06-21T09:08:03Z</dcterms:created>
  <dcterms:modified xsi:type="dcterms:W3CDTF">2026-06-21T09:08:03Z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0x01010083281D321BE4CD48AE21B48FCB84677E</vt:lpwstr>
  </property>
</Properties>
</file>